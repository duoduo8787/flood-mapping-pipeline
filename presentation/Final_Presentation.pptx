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62272"/>
            <a:ext cx="12188952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洪水製圖端到端環境資料管線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0C4DE"/>
                </a:solidFill>
              </a:rPr>
              <a:t>End-to-End Environmental Data Pipeline for Flood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194560"/>
            <a:ext cx="576072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377440"/>
            <a:ext cx="182880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4048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Sentinel-1 SAR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377440"/>
            <a:ext cx="182880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24048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Sentinel-2 光學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377440"/>
            <a:ext cx="1828800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4048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Landsat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377440"/>
            <a:ext cx="1828800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048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GloFAS 類比搜尋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3A"/>
                </a:solidFill>
              </a:rPr>
              <a:t>CIE 5158 環境大數據分析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6070"/>
                </a:solidFill>
              </a:rPr>
              <a:t>期末報告  ·  2026 年 4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6070"/>
                </a:solidFill>
              </a:rPr>
              <a:t>研究範圍：南亞 6 個 HydroBASINS 集水區  ·  空間解析度 ~30m  ·  重現期 RP=2 / 5 / 10 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CIE 5158 — End-to-End Environmental Data Pipeline  ·  Flood Mapping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7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簡報大綱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26464"/>
            <a:ext cx="438912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2646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408176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>專案背景與研究動機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47088"/>
            <a:ext cx="100584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938528"/>
            <a:ext cx="438912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920240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>Pipeline 整體架構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59152"/>
            <a:ext cx="100584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450592"/>
            <a:ext cx="438912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50592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432304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>資料工程：Zarr 格式選擇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871216"/>
            <a:ext cx="100584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962656"/>
            <a:ext cx="438912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62656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2944368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>Chunking 策略設計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383280"/>
            <a:ext cx="100584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474720"/>
            <a:ext cx="438912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4747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456432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>Performance Benchmark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895344"/>
            <a:ext cx="100584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986784"/>
            <a:ext cx="438912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98678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3968496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>Trade-off 分析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407408"/>
            <a:ext cx="100584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4498848"/>
            <a:ext cx="438912" cy="347472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498848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4480560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>STAC 資料目錄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919472"/>
            <a:ext cx="100584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5010912"/>
            <a:ext cx="438912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10912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4992624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>Downstream Task Demo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5431536"/>
            <a:ext cx="100584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" y="5522976"/>
            <a:ext cx="438912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522976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5504688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>文件與可重現性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5943600"/>
            <a:ext cx="1005840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CIE 5158 — End-to-End Environmental Data Pipeline  ·  Flood Mapping Project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4031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7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專案背景與研究動機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Background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200400" cy="2926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161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研究問題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36192"/>
            <a:ext cx="530352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645920"/>
            <a:ext cx="50292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洪水是南亞最嚴重的自然災害之一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傳統光學影像受雲層覆蓋嚴重影響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單一感測器無法提供完整淹水資訊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需要可擴充、可重現的自動化製圖管線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246120"/>
            <a:ext cx="3200400" cy="2926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2735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研究目標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593592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3703320"/>
            <a:ext cx="50292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融合 Sentinel-1 SAR + Sentinel-2 / Landsat 光學影像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使用 EDL（Evidential Deep Learning）進行不確定性量化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建立雲端原生 Zarr 格式的多維度資料管線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透過 GloFAS 類比搜尋選取最相似歷史洪水事件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88720"/>
            <a:ext cx="3200400" cy="2926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2161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資料集規格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536192"/>
            <a:ext cx="5925312" cy="4389120"/>
          </a:xfrm>
          <a:prstGeom prst="rect">
            <a:avLst/>
          </a:prstGeom>
          <a:solidFill>
            <a:srgbClr val="F0F4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64208"/>
            <a:ext cx="137160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70078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感測器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7007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Sentinel-1 SAR  ·  Sentinel-2  ·  Landsat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157984"/>
            <a:ext cx="137160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1945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集水區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194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6 個 HydroBASINS Level-8（南亞）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651760"/>
            <a:ext cx="137160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26883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重現期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6883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RP = 2 / 5 / 10 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145536"/>
            <a:ext cx="137160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318211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類比數量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1821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每個 RP 取 Top-5 歷史類比場景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639312"/>
            <a:ext cx="137160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36758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空間解析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675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~30 m（TARGET_RES = 0.0002694946°）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4133088"/>
            <a:ext cx="137160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16966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涵蓋範圍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169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68.97°E–69.83°E，54.60°N–55.28°N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626864"/>
            <a:ext cx="137160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466344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影像尺寸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2508 × 3188 像素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CIE 5158 — End-to-End Environmental Data Pipeline  ·  Flood Mapping 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4031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7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Pipeline 整體架構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6-Step ETL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188720"/>
            <a:ext cx="21031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0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188720"/>
            <a:ext cx="2103120" cy="38404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2070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6642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6070"/>
                </a:solidFill>
              </a:rPr>
              <a:t>GloFAS 類比搜尋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240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從 GloFAS 流量資料計算 RMSE，
找出歷史上最相似的洪水場景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3840480"/>
            <a:ext cx="1920240" cy="457200"/>
          </a:xfrm>
          <a:prstGeom prst="rect">
            <a:avLst/>
          </a:prstGeom>
          <a:solidFill>
            <a:srgbClr val="EEEEEE"/>
          </a:solidFill>
          <a:ln w="10160">
            <a:solidFill>
              <a:srgbClr val="60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06070"/>
                </a:solidFill>
              </a:rPr>
              <a:t>（已提供，不須實作）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4688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06070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88336" y="1188720"/>
            <a:ext cx="21031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88336" y="1188720"/>
            <a:ext cx="2103120" cy="38404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8336" y="12070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16642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688"/>
                </a:solidFill>
              </a:rPr>
              <a:t>Analogue 結果 → Zarr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2240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讀取 analogue_search_results.json
與 RMSE 空間圖，存入 zarr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9776" y="3840480"/>
            <a:ext cx="1920240" cy="457200"/>
          </a:xfrm>
          <a:prstGeom prst="rect">
            <a:avLst/>
          </a:prstGeom>
          <a:solidFill>
            <a:srgbClr val="E8F4FD"/>
          </a:solidFill>
          <a:ln w="1016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496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9688"/>
                </a:solidFill>
              </a:rPr>
              <a:t>build_zarr_step3.py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24688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06070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1188720"/>
            <a:ext cx="21031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0" y="1188720"/>
            <a:ext cx="2103120" cy="38404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12070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16642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EB"/>
                </a:solidFill>
              </a:rPr>
              <a:t>衛星影像 → Zarr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240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裁切 / 重投影 / 鑲嵌 6 集水區
至統一 30m 格網，optical + SAR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3840480"/>
            <a:ext cx="1920240" cy="457200"/>
          </a:xfrm>
          <a:prstGeom prst="rect">
            <a:avLst/>
          </a:prstGeom>
          <a:solidFill>
            <a:srgbClr val="E8F4FD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F6FEB"/>
                </a:solidFill>
              </a:rPr>
              <a:t>build_zarr_step4.py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24688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06070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0064" y="1188720"/>
            <a:ext cx="21031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70064" y="1188720"/>
            <a:ext cx="2103120" cy="38404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0064" y="12070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1504" y="16642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7C00"/>
                </a:solidFill>
              </a:rPr>
              <a:t>EDL 推論 → Zarr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1504" y="2240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U-Net EDL 模型輸出 7 個變數
（分類 + 機率 + 不確定性）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61504" y="3840480"/>
            <a:ext cx="1920240" cy="457200"/>
          </a:xfrm>
          <a:prstGeom prst="rect">
            <a:avLst/>
          </a:prstGeom>
          <a:solidFill>
            <a:srgbClr val="E8F4FD"/>
          </a:solidFill>
          <a:ln w="1016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07224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7C00"/>
                </a:solidFill>
              </a:rPr>
              <a:t>build_zarr.py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4688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06070"/>
                </a:solidFill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10928" y="1188720"/>
            <a:ext cx="21031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10928" y="1188720"/>
            <a:ext cx="2103120" cy="38404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10928" y="12070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02368" y="16642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53935"/>
                </a:solidFill>
              </a:rPr>
              <a:t>Optical + SAR 融合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02368" y="22402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以 1/dst_uncertainty 加權平均
兩感測器，輸出最終淹水範圍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02368" y="3840480"/>
            <a:ext cx="1920240" cy="457200"/>
          </a:xfrm>
          <a:prstGeom prst="rect">
            <a:avLst/>
          </a:prstGeom>
          <a:solidFill>
            <a:srgbClr val="E8F4FD"/>
          </a:solidFill>
          <a:ln w="1016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48088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53935"/>
                </a:solidFill>
              </a:rPr>
              <a:t>data_merge.py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19656" y="4846320"/>
            <a:ext cx="201168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47088" y="487375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analogue_results.zarr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20" y="4846320"/>
            <a:ext cx="201168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87952" y="487375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satellite_images.zarr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01384" y="4846320"/>
            <a:ext cx="2011680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8816" y="487375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flood_predictions.zarr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42248" y="4846320"/>
            <a:ext cx="2011680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0" y="487375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flood_extent_merged.zarr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CIE 5158 — End-to-End Environmental Data Pipeline  ·  Flood Mapping Project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4031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7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資料工程：為什麼選 Zarr？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Data Engineering — Format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286000" cy="2926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16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格式選擇依據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36192"/>
            <a:ext cx="1280160" cy="3840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格式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1536192"/>
            <a:ext cx="1645920" cy="3840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5819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多維索引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536192"/>
            <a:ext cx="1463040" cy="3840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8191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雲端原生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536192"/>
            <a:ext cx="1645920" cy="3840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5819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無損chunking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536192"/>
            <a:ext cx="1554480" cy="3840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8191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Python生態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1536192"/>
            <a:ext cx="1645920" cy="3840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15819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選擇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920240"/>
            <a:ext cx="128016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196596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Zarr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1920240"/>
            <a:ext cx="164592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196596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✅ 原生支援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1920240"/>
            <a:ext cx="146304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19659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1920240"/>
            <a:ext cx="164592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196596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920240"/>
            <a:ext cx="155448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96596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✅ xarray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1920240"/>
            <a:ext cx="164592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196596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✅ 本專案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30428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35000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NetCDF4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0200" y="230428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0" y="23500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230428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23500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⚠️ 有限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230428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23500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⚠️ 有限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230428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35000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✅ xarray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09560" y="230428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0" y="23500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53935"/>
                </a:solidFill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2688336"/>
            <a:ext cx="128016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273405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COG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2688336"/>
            <a:ext cx="164592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0" y="27340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53935"/>
                </a:solidFill>
              </a:rPr>
              <a:t>❌ 2D only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46120" y="2688336"/>
            <a:ext cx="146304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273405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60" y="2688336"/>
            <a:ext cx="164592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27340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✅ 金字塔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2688336"/>
            <a:ext cx="155448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27340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⚠️ rasterio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9560" y="2688336"/>
            <a:ext cx="164592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80" y="27340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53935"/>
                </a:solidFill>
              </a:rPr>
              <a:t>❌ 無法表達多維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07238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311810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Parquet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307238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45920" y="311810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53935"/>
                </a:solidFill>
              </a:rPr>
              <a:t>❌ 表格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46120" y="307238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91840" y="311810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60" y="307238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54880" y="311810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✅ 欄式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307238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311810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A"/>
                </a:solidFill>
              </a:rPr>
              <a:t>✅ pandas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09560" y="307238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55280" y="311810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53935"/>
                </a:solidFill>
              </a:rPr>
              <a:t>❌ 不適合網格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1188720"/>
            <a:ext cx="2743200" cy="2926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92240" y="12161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Zarr 多維結構設計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1536192"/>
            <a:ext cx="5486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00800" y="1536192"/>
            <a:ext cx="109728" cy="6400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65392" y="15727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</a:rPr>
              <a:t>flood_predictions.zarr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5392" y="18653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70"/>
                </a:solidFill>
              </a:rPr>
              <a:t>(sensor=2, RP=3, rank=5, y=2508, x=3188) × 7 vars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2249424"/>
            <a:ext cx="5486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00" y="2249424"/>
            <a:ext cx="109728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65392" y="22860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</a:rPr>
              <a:t>satellite_images.zarr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65392" y="25786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70"/>
                </a:solidFill>
              </a:rPr>
              <a:t>(RP=3, rank=5, channel=6/2, y=2508, x=3188)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2962656"/>
            <a:ext cx="5486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400800" y="2962656"/>
            <a:ext cx="109728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65392" y="29992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8"/>
                </a:solidFill>
              </a:rPr>
              <a:t>analogue_results.zarr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65392" y="32918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70"/>
                </a:solidFill>
              </a:rPr>
              <a:t>(basin=6, RP=3, rank=5) + (basin=6, RP=3, y, x)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3675888"/>
            <a:ext cx="5486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00800" y="3675888"/>
            <a:ext cx="109728" cy="6400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65392" y="371246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935"/>
                </a:solidFill>
              </a:rPr>
              <a:t>flood_extent_merged.zarr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65392" y="40050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70"/>
                </a:solidFill>
              </a:rPr>
              <a:t>(RP=3, rank=5, y=2508, x=3188) × 3 vars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2926080" cy="2926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92240" y="45994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選擇 Zarr 的關鍵原因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00800" y="4919472"/>
            <a:ext cx="5486400" cy="1389888"/>
          </a:xfrm>
          <a:prstGeom prst="rect">
            <a:avLst/>
          </a:prstGeom>
          <a:solidFill>
            <a:srgbClr val="E8F4FD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565392" y="50292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原生支援任意維度（sensor × RP × rank × y × x）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可任意設定 chunk 形狀，針對存取模式最佳化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xarray 完整整合，座標標籤直觀存取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不壓縮 → 讀取速度最大化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CIE 5158 — End-to-End Environmental Data Pipeline  ·  Flood Mapping Project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64031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7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Chunking 策略設計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Chunking Strategy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56616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56616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161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★ 策略 A（最終選擇）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2651760" cy="3474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6479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1F6FEB"/>
                </a:solidFill>
              </a:rPr>
              <a:t>Chunk: (1,1,1,512,512)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對應最小集水區尺度 (~652×716 px)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62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單場景讀取 → 一次載入剛好一場景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796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空間查詢 → bbox 命中少量 chunk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130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最符合主要使用情境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96512" y="1188720"/>
            <a:ext cx="35661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96512" y="1188720"/>
            <a:ext cx="356616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6512" y="12161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7C00"/>
                </a:solidFill>
              </a:rPr>
              <a:t>策略 B（全時序）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53712" y="1737360"/>
            <a:ext cx="265176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176479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1A233A"/>
                </a:solidFill>
              </a:rPr>
              <a:t>Chunk: (2,3,5,128,128)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22128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跨 sensor × RP × rank 完整時序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3672" y="27462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Data Merge 讀取全部 rank 較佳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672" y="32796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但空間 chunk 小 → Q1/Q3 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3672" y="38130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犧牲單場景速度換時序效能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72984" y="1188720"/>
            <a:ext cx="35661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0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72984" y="1188720"/>
            <a:ext cx="356616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60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4" y="12161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06070"/>
                </a:solidFill>
              </a:rPr>
              <a:t>策略 C（全圖）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30184" y="1737360"/>
            <a:ext cx="265176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176479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1A233A"/>
                </a:solidFill>
              </a:rPr>
              <a:t>Chunk: (1,1,1,2508,3188)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22128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每個 chunk = 一張完整影像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27462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空間 bbox 查詢必須載入整張圖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4" y="32796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Data Merge 全圖讀取最快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4" y="38130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記憶體需求最高（baseline）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166360"/>
            <a:ext cx="4114800" cy="2926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19379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三種查詢模式（Benchmark 設計）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532120"/>
            <a:ext cx="3840480" cy="457200"/>
          </a:xfrm>
          <a:prstGeom prst="rect">
            <a:avLst/>
          </a:prstGeom>
          <a:solidFill>
            <a:srgbClr val="F0F4FF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5595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</a:rPr>
              <a:t>Q1  單場景讀取：[sensor=0, rp=0, rank=0, :, :]  →  主要使用情境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79" y="5532120"/>
            <a:ext cx="3840480" cy="457200"/>
          </a:xfrm>
          <a:prstGeom prst="rect">
            <a:avLst/>
          </a:prstGeom>
          <a:solidFill>
            <a:srgbClr val="F0F4FF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19" y="55595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</a:rPr>
              <a:t>Q2  Data Merge：[sensor=0, rp=0, :, :, :]（全rank）  →  融合計算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18" y="5532120"/>
            <a:ext cx="3840480" cy="457200"/>
          </a:xfrm>
          <a:prstGeom prst="rect">
            <a:avLst/>
          </a:prstGeom>
          <a:solidFill>
            <a:srgbClr val="F0F4FF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58" y="55595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</a:rPr>
              <a:t>Q3  集水區查詢：[0,0,0, 900:1552, 900:1616]  →  空間分析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CIE 5158 — End-to-End Environmental Data Pipeline  ·  Flood Mapping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4031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7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Performance Benchmark 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Chunking Strategy Performance Comparison</a:t>
            </a:r>
          </a:p>
        </p:txBody>
      </p:sp>
      <p:pic>
        <p:nvPicPr>
          <p:cNvPr id="6" name="Picture 5" descr="benchmark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7315200" cy="312054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18120" y="1188720"/>
            <a:ext cx="2286000" cy="2926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216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關鍵數字摘要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536192"/>
            <a:ext cx="4069080" cy="566928"/>
          </a:xfrm>
          <a:prstGeom prst="rect">
            <a:avLst/>
          </a:prstGeom>
          <a:solidFill>
            <a:srgbClr val="F0F4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572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Q1 單場景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810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70"/>
                </a:solidFill>
              </a:rPr>
              <a:t>策略 A 最快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645920"/>
            <a:ext cx="1645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93808" y="16733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7.9 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194560"/>
            <a:ext cx="4069080" cy="566928"/>
          </a:xfrm>
          <a:prstGeom prst="rect">
            <a:avLst/>
          </a:prstGeom>
          <a:solidFill>
            <a:srgbClr val="F0F4FF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2311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Q2 Data 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468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70"/>
                </a:solidFill>
              </a:rPr>
              <a:t>策略 C 最快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2304288"/>
            <a:ext cx="1645920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93808" y="23317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38.1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2852928"/>
            <a:ext cx="4069080" cy="566928"/>
          </a:xfrm>
          <a:prstGeom prst="rect">
            <a:avLst/>
          </a:prstGeom>
          <a:solidFill>
            <a:srgbClr val="F0F4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28895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Q3 集水區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1272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70"/>
                </a:solidFill>
              </a:rPr>
              <a:t>策略 A 最快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2962656"/>
            <a:ext cx="1645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3808" y="29900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1.1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3511296"/>
            <a:ext cx="4069080" cy="566928"/>
          </a:xfrm>
          <a:prstGeom prst="rect">
            <a:avLst/>
          </a:prstGeom>
          <a:solidFill>
            <a:srgbClr val="F0F4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3547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Throughput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7856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70"/>
                </a:solidFill>
              </a:rPr>
              <a:t>Q1 最高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0" y="3621024"/>
            <a:ext cx="164592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3808" y="364845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4060 MB/s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4169664"/>
            <a:ext cx="4069080" cy="566928"/>
          </a:xfrm>
          <a:prstGeom prst="rect">
            <a:avLst/>
          </a:prstGeom>
          <a:solidFill>
            <a:srgbClr val="F0F4FF"/>
          </a:solidFill>
          <a:ln w="1524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4206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Throughput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44439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70"/>
                </a:solidFill>
              </a:rPr>
              <a:t>Q3 最低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4279392"/>
            <a:ext cx="1645920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3808" y="43068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446 MB/s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4983480"/>
            <a:ext cx="256032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5010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結論：選擇策略 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5330952"/>
            <a:ext cx="4069080" cy="13258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2712" y="5440680"/>
            <a:ext cx="37947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Q1（單場景）+ Q3（集水區）最快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符合主要使用情境：場景讀取 + 空間分析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512×512 對應最小集水區尺度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Q2 稍慢但可接受（41 ms 仍足夠快）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CIE 5158 — End-to-End Environmental Data Pipeline  ·  Flood Mapping 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4031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7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Trade-off 分析：設計的限制與權衡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Trade-off Analysis &amp; Design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657600" cy="2926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161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什麼情況下策略 A 最慢？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36192"/>
            <a:ext cx="5394960" cy="1920240"/>
          </a:xfrm>
          <a:prstGeom prst="rect">
            <a:avLst/>
          </a:prstGeom>
          <a:solidFill>
            <a:srgbClr val="FFEBEB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Q2 Data Merge：讀取所有 rank（5 個 chunk × spatial）時最慢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  → 41.8 ms vs 策略 C 的 38.1 ms（慢約 10%）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全時序分析（跨所有 sensor × RP × rank）時效率最差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chunk 數量多（總 chunk 數 &gt; 策略 C），小 I/O 開銷累積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566160"/>
            <a:ext cx="2743200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935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設計決策的取捨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13632"/>
            <a:ext cx="539496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502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如果選策略 B（全時序）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1538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</a:rPr>
              <a:t>→ Q2 Data Merge 快 → Q1/Q3 空間查詢慢 6×  ／  不適合主要使用情境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645152"/>
            <a:ext cx="539496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817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如果選策略 C（全圖）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469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</a:rPr>
              <a:t>→ Data Merge 最快 → 空間 bbox 查詢需載入整張圖  ／  記憶體用量高，不利互動分析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376672"/>
            <a:ext cx="539496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132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策略 A 的取捨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784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</a:rPr>
              <a:t>→ Q1/Q3 最快，Q2 僅慢 10%  ／  最均衡，選為最終方案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188720"/>
            <a:ext cx="2743200" cy="292608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2161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資料層面的限制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536192"/>
            <a:ext cx="5897880" cy="502920"/>
          </a:xfrm>
          <a:prstGeom prst="rect">
            <a:avLst/>
          </a:prstGeom>
          <a:solidFill>
            <a:srgbClr val="F0F4FF"/>
          </a:solidFill>
          <a:ln w="1524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89320" y="1536192"/>
            <a:ext cx="109728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15727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935"/>
                </a:solidFill>
              </a:rPr>
              <a:t>RP=2 rank=4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17830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</a:rPr>
              <a:t>有效像素 0%，無對應衛星影像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2130552"/>
            <a:ext cx="5897880" cy="502920"/>
          </a:xfrm>
          <a:prstGeom prst="rect">
            <a:avLst/>
          </a:prstGeom>
          <a:solidFill>
            <a:srgbClr val="F0F4FF"/>
          </a:solidFill>
          <a:ln w="1524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2130552"/>
            <a:ext cx="109728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21671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935"/>
                </a:solidFill>
              </a:rPr>
              <a:t>RP=10 rank=3/4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23774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</a:rPr>
              <a:t>有效像素 0%，無對應衛星影像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2724912"/>
            <a:ext cx="5897880" cy="502920"/>
          </a:xfrm>
          <a:prstGeom prst="rect">
            <a:avLst/>
          </a:prstGeom>
          <a:solidFill>
            <a:srgbClr val="F0F4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89320" y="2724912"/>
            <a:ext cx="109728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2761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解決方式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</a:rPr>
              <a:t>統計時排除此 rank，以 nanmean 計算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3108960"/>
            <a:ext cx="2560320" cy="2926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31363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預期 Q&amp;A 問題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45643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</a:rPr>
              <a:t>Q：為何不選壓縮（GZIP/Blosc）？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374904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</a:rPr>
              <a:t>A：本資料為浮點數，壓縮率低，讀取時解壓反而增加延遲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11480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</a:rPr>
              <a:t>Q：為何不用 COG？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407408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</a:rPr>
              <a:t>A：COG 本質 2D，無法表達 sensor×RP×rank 多維結構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4773168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</a:rPr>
              <a:t>Q：512×512 的依據？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5065776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A"/>
                </a:solidFill>
              </a:rPr>
              <a:t>A：對應最小集水區尺度（~652×716 px），語意上有意義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CIE 5158 — End-to-End Environmental Data Pipeline  ·  Flood Mapping Project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4031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7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STAC 資料目錄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SpatioTemporal Asset Catalog (STAC 1.0)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560320" cy="2926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161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STAC 目錄結構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36192"/>
            <a:ext cx="3657600" cy="32918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stac/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562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catalog.json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848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  flood-mapping-pipeline/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134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collection.json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420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    satellite-images/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706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  satellite-images.json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992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    flood-predictions/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2278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  flood-predictions.json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564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    analogue-results/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6850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  analogue-results.json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9136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    flood-extent-merged/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1422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  flood-extent-merged.json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1188720"/>
            <a:ext cx="2286000" cy="2926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216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四個 STAC 資產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1536192"/>
            <a:ext cx="41148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1536192"/>
            <a:ext cx="109728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15727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FEB"/>
                </a:solidFill>
              </a:rPr>
              <a:t>衛星影像 zarr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18653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70"/>
                </a:solidFill>
              </a:rPr>
              <a:t>optical × SAR, RP×rank, 30m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2286000"/>
            <a:ext cx="41148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2286000"/>
            <a:ext cx="109728" cy="65836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23225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7C00"/>
                </a:solidFill>
              </a:rPr>
              <a:t>EDL 預測結果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26151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70"/>
                </a:solidFill>
              </a:rPr>
              <a:t>7 vars × sensor × RP × rank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3035808"/>
            <a:ext cx="41148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3035808"/>
            <a:ext cx="109728" cy="6583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30723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類比搜尋結果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3364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70"/>
                </a:solidFill>
              </a:rPr>
              <a:t>matched_datetime, rmse_score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3785616"/>
            <a:ext cx="41148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0520" y="3785616"/>
            <a:ext cx="109728" cy="65836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3822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935"/>
                </a:solidFill>
              </a:rPr>
              <a:t>最終淹水範圍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4114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70"/>
                </a:solidFill>
              </a:rPr>
              <a:t>optical+SAR 融合，3 vars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983480"/>
            <a:ext cx="3200400" cy="2926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109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如何瀏覽 STAC Catalog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330952"/>
            <a:ext cx="5029200" cy="1325880"/>
          </a:xfrm>
          <a:prstGeom prst="rect">
            <a:avLst/>
          </a:prstGeom>
          <a:solidFill>
            <a:srgbClr val="1E1E2E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4223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CBC4"/>
                </a:solidFill>
              </a:rPr>
              <a:t># Terminal 1：啟動 CORS-enabled HTTP server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56509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python3 serve_stac.py   # port 8888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95274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CBC4"/>
                </a:solidFill>
              </a:rPr>
              <a:t># Terminal 2：啟動 STAC Browser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18134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cd stac-browser &amp;&amp; npm start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40994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CBC4"/>
                </a:solidFill>
              </a:rPr>
              <a:t># 開啟瀏覽器：http://localhost:8080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58200" y="1188720"/>
            <a:ext cx="2560320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9640" y="12161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為什麼需要 STAC？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1536192"/>
            <a:ext cx="3429000" cy="3017520"/>
          </a:xfrm>
          <a:prstGeom prst="rect">
            <a:avLst/>
          </a:prstGeom>
          <a:solidFill>
            <a:srgbClr val="FFF8E1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9640" y="162763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資產可被 STAC Browser 等第三方工具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19933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  直接搜尋與讀取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235915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bbox + datetime 時空查詢標準化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9640" y="272491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每個 zarr store 皆有完整 metadata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309067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  (extent, CRS, variable names)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345643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符合 STAC 1.0 規範，具互通性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38221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• 不需手動設定即可讓他人使用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CIE 5158 — End-to-End Environmental Data Pipeline  ·  Flood Mapping Project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4031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7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Downstream Task Demo — 資料分析（Task 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Demonstrating Pipeline Value: Speed × Flood Analysis</a:t>
            </a:r>
          </a:p>
        </p:txBody>
      </p:sp>
      <p:pic>
        <p:nvPicPr>
          <p:cNvPr id="6" name="Picture 5" descr="fig1_spee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2298526" cy="228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0" y="1188720"/>
            <a:ext cx="228600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216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速度提升量化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536192"/>
            <a:ext cx="5303520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627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• Raw TIF（30 個檔案逐一讀取）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609344"/>
            <a:ext cx="1463040" cy="320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8" y="16276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~數百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• Zarr（直接讀取 flood_extent_merged）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112264"/>
            <a:ext cx="146304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21305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~數十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633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• 速度提升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615184"/>
            <a:ext cx="1463040" cy="3200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263347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~6× 加速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017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F6FEB"/>
                </a:solidFill>
              </a:rPr>
              <a:t>⚡ Zarr 消除重複 I/O，直接多維索引取得所需資料片段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1188720"/>
            <a:ext cx="2743200" cy="2926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2161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各 RP 平均淹水面積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536192"/>
            <a:ext cx="3154680" cy="594360"/>
          </a:xfrm>
          <a:prstGeom prst="rect">
            <a:avLst/>
          </a:prstGeom>
          <a:solidFill>
            <a:srgbClr val="F0F4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1572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EB"/>
                </a:solidFill>
              </a:rPr>
              <a:t>RP = 2 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572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233A"/>
                </a:solidFill>
              </a:rPr>
              <a:t>~437 km²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83794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70"/>
                </a:solidFill>
              </a:rPr>
              <a:t>4/5 rank 有效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2221992"/>
            <a:ext cx="3154680" cy="594360"/>
          </a:xfrm>
          <a:prstGeom prst="rect">
            <a:avLst/>
          </a:prstGeom>
          <a:solidFill>
            <a:srgbClr val="F0F4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2585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EB"/>
                </a:solidFill>
              </a:rPr>
              <a:t>RP = 5 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2585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233A"/>
                </a:solidFill>
              </a:rPr>
              <a:t>~580 km²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52374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70"/>
                </a:solidFill>
              </a:rPr>
              <a:t>5/5 rank 有效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2907792"/>
            <a:ext cx="3154680" cy="594360"/>
          </a:xfrm>
          <a:prstGeom prst="rect">
            <a:avLst/>
          </a:prstGeom>
          <a:solidFill>
            <a:srgbClr val="F0F4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29443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EB"/>
                </a:solidFill>
              </a:rPr>
              <a:t>RP = 10 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9443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233A"/>
                </a:solidFill>
              </a:rPr>
              <a:t>~621 km²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20954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70"/>
                </a:solidFill>
              </a:rPr>
              <a:t>3/5 rank 有效</a:t>
            </a:r>
          </a:p>
        </p:txBody>
      </p:sp>
      <p:pic>
        <p:nvPicPr>
          <p:cNvPr id="34" name="Picture 33" descr="fig2_flood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657600"/>
            <a:ext cx="8412480" cy="52945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74320" y="6446520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70"/>
                </a:solidFill>
              </a:rPr>
              <a:t>上排：Flood Agreement（越深=越多場景預測為淹水）  ·  下排：預測不確定性（越深=越不確定）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CIE 5158 — End-to-End Environmental Data Pipeline  ·  Flood Mapping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4031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7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文件與可重現性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Documentation &amp; Reproducibility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286000" cy="2926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16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README.md 架構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36192"/>
            <a:ext cx="5394960" cy="2194560"/>
          </a:xfrm>
          <a:prstGeom prst="rect">
            <a:avLst/>
          </a:prstGeom>
          <a:solidFill>
            <a:srgbClr val="F0F4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645920"/>
            <a:ext cx="512064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ASCII Pipeline 架構圖（6 步驟視覺化）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完整資料目錄結構說明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每個腳本的執行指令（含 Python 路徑）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Chunking 策略比較說明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STAC Browser 啟動步驟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233A"/>
                </a:solidFill>
              </a:rPr>
              <a:t>• 缺失影像（missing imagery）說明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840480"/>
            <a:ext cx="3200400" cy="2926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8679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pyproject.toml（uv 管理）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187952"/>
            <a:ext cx="5394960" cy="23774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793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0CBC4"/>
                </a:solidFill>
              </a:rPr>
              <a:t># 一鍵安裝：uv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"xarray" = "==2026.4.0"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9145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"zarr" = "==3.1.6"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1091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"rasterio" = "==1.5.0"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3036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"numpy" = "==2.4.4"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4982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"geopandas" = "==1.1.3"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"matplotlib" = "==3.10.8"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8873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"rioxarray" = "==0.22.0"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0819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"pystac" = "==1.14.3"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188720"/>
            <a:ext cx="2560320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2161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可重現性設計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536192"/>
            <a:ext cx="5925312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1536192"/>
            <a:ext cx="109728" cy="65836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572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環境鎖定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15727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pyproject.toml 版本固定，uv sync 一行還原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1847088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286000"/>
            <a:ext cx="5925312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2286000"/>
            <a:ext cx="109728" cy="65836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3225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腳本獨立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32257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每個步驟可單獨執行，輸出路徑明確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596896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035808"/>
            <a:ext cx="5925312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3035808"/>
            <a:ext cx="109728" cy="65836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0723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資料路徑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307238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BASE_DIR = Path(__file__).parent，相對路徑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346704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3785616"/>
            <a:ext cx="5925312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0" y="3785616"/>
            <a:ext cx="109728" cy="65836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8221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無狀態副作用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38221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每次執行覆寫輸出，不留中間暫存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096512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4535424"/>
            <a:ext cx="5925312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4535424"/>
            <a:ext cx="109728" cy="65836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45720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說明文件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45720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README 含所有操作步驟，新人即可上手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846320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5285232"/>
            <a:ext cx="5925312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43600" y="5285232"/>
            <a:ext cx="109728" cy="65836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53218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STAC Catalog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532180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A"/>
                </a:solidFill>
              </a:rPr>
              <a:t>資料資產有標準化描述，第三方可直接讀取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5596128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3A"/>
                </a:solidFill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6111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CIE 5158 — End-to-End Environmental Data Pipeline  ·  Flood Mapping Project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4031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7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88952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專案成果總結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148840" cy="3200400"/>
          </a:xfrm>
          <a:prstGeom prst="rect">
            <a:avLst/>
          </a:prstGeom>
          <a:solidFill>
            <a:srgbClr val="222B45"/>
          </a:solidFill>
          <a:ln w="317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14884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✅ 資料工程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810512"/>
            <a:ext cx="192938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4 個 Zarr 格式資料集，涵蓋 6 集水區 × 3 RP × 5 rank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3472" y="1234440"/>
            <a:ext cx="2148840" cy="3200400"/>
          </a:xfrm>
          <a:prstGeom prst="rect">
            <a:avLst/>
          </a:prstGeom>
          <a:solidFill>
            <a:srgbClr val="222B45"/>
          </a:solidFill>
          <a:ln w="317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1234440"/>
            <a:ext cx="21488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26187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✅ 效能最佳化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810512"/>
            <a:ext cx="192938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策略 A (1,1,1,512,512) Q1 7.9ms / Q3 1.1ms，4060 MB/s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46904" y="1234440"/>
            <a:ext cx="2148840" cy="3200400"/>
          </a:xfrm>
          <a:prstGeom prst="rect">
            <a:avLst/>
          </a:prstGeom>
          <a:solidFill>
            <a:srgbClr val="222B45"/>
          </a:solidFill>
          <a:ln w="317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46904" y="1234440"/>
            <a:ext cx="214884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6904" y="126187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✅ STAC 目錄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1810512"/>
            <a:ext cx="192938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STAC 1.0 規範，4 個資產，可被第三方工具搜尋讀取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0336" y="1234440"/>
            <a:ext cx="2148840" cy="3200400"/>
          </a:xfrm>
          <a:prstGeom prst="rect">
            <a:avLst/>
          </a:prstGeom>
          <a:solidFill>
            <a:srgbClr val="222B45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0336" y="1234440"/>
            <a:ext cx="214884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126187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✅ 下游應用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0064" y="1810512"/>
            <a:ext cx="192938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~6× 讀取加速，RP=2/5/10 淹水範圍視覺化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73768" y="1234440"/>
            <a:ext cx="2148840" cy="3200400"/>
          </a:xfrm>
          <a:prstGeom prst="rect">
            <a:avLst/>
          </a:prstGeom>
          <a:solidFill>
            <a:srgbClr val="222B45"/>
          </a:solidFill>
          <a:ln w="317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73768" y="1234440"/>
            <a:ext cx="2148840" cy="4572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3768" y="126187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✅ 可重現性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1810512"/>
            <a:ext cx="192938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pyproject.toml 版本鎖定 + uv sync + 完整 README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C4DE"/>
                </a:solidFill>
              </a:rPr>
              <a:t>技術棧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74920"/>
            <a:ext cx="1472184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5102352"/>
            <a:ext cx="1380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Python 3.13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9384" y="5074920"/>
            <a:ext cx="1170432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02536" y="5102352"/>
            <a:ext cx="10789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Zarr 3.1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91256" y="5074920"/>
            <a:ext cx="969264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4408" y="5102352"/>
            <a:ext cx="8778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xarray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5074920"/>
            <a:ext cx="1170432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5112" y="5102352"/>
            <a:ext cx="10789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rasterio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13832" y="5074920"/>
            <a:ext cx="1271016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86984" y="5102352"/>
            <a:ext cx="11795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rioxarray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76288" y="5074920"/>
            <a:ext cx="1271016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5102352"/>
            <a:ext cx="11795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geopandas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38744" y="5074920"/>
            <a:ext cx="1472184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5102352"/>
            <a:ext cx="13807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EDL (U-Net)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02368" y="5074920"/>
            <a:ext cx="1170432" cy="34747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5102352"/>
            <a:ext cx="10789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STAC 1.0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064240" y="5074920"/>
            <a:ext cx="969264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37392" y="5102352"/>
            <a:ext cx="8778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pystac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124944" y="5074920"/>
            <a:ext cx="566928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198096" y="5102352"/>
            <a:ext cx="4754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Thank You  ·  Q&amp;A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40312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6070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